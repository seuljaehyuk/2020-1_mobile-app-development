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2" r:id="rId1"/>
  </p:sldMasterIdLst>
  <p:notesMasterIdLst>
    <p:notesMasterId r:id="rId8"/>
  </p:notesMasterIdLst>
  <p:handoutMasterIdLst>
    <p:handoutMasterId r:id="rId9"/>
  </p:handoutMasterIdLst>
  <p:sldIdLst>
    <p:sldId id="722" r:id="rId2"/>
    <p:sldId id="723" r:id="rId3"/>
    <p:sldId id="724" r:id="rId4"/>
    <p:sldId id="725" r:id="rId5"/>
    <p:sldId id="726" r:id="rId6"/>
    <p:sldId id="72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22">
          <p15:clr>
            <a:srgbClr val="A4A3A4"/>
          </p15:clr>
        </p15:guide>
        <p15:guide id="2" pos="2882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76" autoAdjust="0"/>
    <p:restoredTop sz="94600" autoAdjust="0"/>
  </p:normalViewPr>
  <p:slideViewPr>
    <p:cSldViewPr snapToGrid="0">
      <p:cViewPr varScale="1">
        <p:scale>
          <a:sx n="104" d="100"/>
          <a:sy n="104" d="100"/>
        </p:scale>
        <p:origin x="294" y="102"/>
      </p:cViewPr>
      <p:guideLst>
        <p:guide orient="horz" pos="2222"/>
        <p:guide pos="28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82"/>
    </p:cViewPr>
  </p:sorterViewPr>
  <p:notesViewPr>
    <p:cSldViewPr snapToGrid="0">
      <p:cViewPr varScale="1">
        <p:scale>
          <a:sx n="95" d="100"/>
          <a:sy n="95" d="100"/>
        </p:scale>
        <p:origin x="-4050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19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  <a:cs typeface="+mn-cs"/>
              </a:defRPr>
            </a:lvl1pPr>
          </a:lstStyle>
          <a:p>
            <a:pPr>
              <a:defRPr/>
            </a:pPr>
            <a:fld id="{44B68EE0-4410-487B-8EF2-AB4C8DC9B54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962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굴림" charset="-127"/>
              </a:defRPr>
            </a:lvl1pPr>
          </a:lstStyle>
          <a:p>
            <a:pPr>
              <a:defRPr/>
            </a:pPr>
            <a:endParaRPr lang="de-DE" altLang="ko-K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굴림" charset="-127"/>
              </a:defRPr>
            </a:lvl1pPr>
          </a:lstStyle>
          <a:p>
            <a:pPr>
              <a:defRPr/>
            </a:pPr>
            <a:fld id="{81967304-A513-47CF-AA1B-1F2A36BB6376}" type="slidenum">
              <a:rPr lang="de-DE" altLang="ko-KR"/>
              <a:pPr>
                <a:defRPr/>
              </a:pPr>
              <a:t>‹#›</a:t>
            </a:fld>
            <a:endParaRPr lang="de-DE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1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2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3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4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5</a:t>
            </a:fld>
            <a:endParaRPr lang="de-DE" altLang="ko-K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1967304-A513-47CF-AA1B-1F2A36BB6376}" type="slidenum">
              <a:rPr lang="de-DE" altLang="ko-KR" smtClean="0"/>
              <a:pPr>
                <a:defRPr/>
              </a:pPr>
              <a:t>6</a:t>
            </a:fld>
            <a:endParaRPr lang="de-DE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저작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pic>
        <p:nvPicPr>
          <p:cNvPr id="3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8" y="330200"/>
            <a:ext cx="1216025" cy="322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1403350" y="330200"/>
            <a:ext cx="7186613" cy="36988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altLang="ko-KR" sz="1800" dirty="0" smtClean="0">
                <a:latin typeface="HY견고딕" pitchFamily="18" charset="-127"/>
                <a:ea typeface="HY견고딕" pitchFamily="18" charset="-127"/>
              </a:rPr>
              <a:t>IT CookBook, </a:t>
            </a:r>
            <a:r>
              <a:rPr lang="ko-KR" altLang="en-US" sz="1800" dirty="0" smtClean="0">
                <a:latin typeface="HY견고딕" pitchFamily="18" charset="-127"/>
                <a:ea typeface="HY견고딕" pitchFamily="18" charset="-127"/>
              </a:rPr>
              <a:t>안드로이드 프로그래밍</a:t>
            </a:r>
            <a:endParaRPr lang="de-DE" altLang="ko-KR" sz="1200" dirty="0" smtClean="0"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TextBox 4"/>
          <p:cNvSpPr txBox="1"/>
          <p:nvPr userDrawn="1"/>
        </p:nvSpPr>
        <p:spPr>
          <a:xfrm>
            <a:off x="68263" y="1973263"/>
            <a:ext cx="9167812" cy="25241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>
              <a:defRPr/>
            </a:pPr>
            <a:endParaRPr lang="en-US" altLang="ko-KR" sz="1400" b="1" dirty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>
              <a:buFont typeface="Arial" pitchFamily="34" charset="0"/>
              <a:buNone/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cs typeface="+mn-cs"/>
              </a:rPr>
              <a:t>본 강의교안은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수업상황을 도입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-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전개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-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마무리로 구분하여 수업의 각 단계에서 필요한 요소 중 강의교안으로 커버할 수 있는 영역을 기준으로 작성되었습니다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</a:p>
          <a:p>
            <a:pPr>
              <a:buFont typeface="Arial" pitchFamily="34" charset="0"/>
              <a:buNone/>
              <a:defRPr/>
            </a:pP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도입 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: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수업준비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전시학습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동기유발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학습목표</a:t>
            </a: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전개 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: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학습안내제공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정보제시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연습기회제공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수행유도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중간점검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피드백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)</a:t>
            </a: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마무리 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: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정리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형성평가</a:t>
            </a:r>
            <a:r>
              <a:rPr lang="en-US" altLang="ko-KR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, 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다음 </a:t>
            </a:r>
            <a:r>
              <a:rPr lang="ko-KR" altLang="en-US" sz="1000" dirty="0" err="1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차시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 안내</a:t>
            </a: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lvl="1">
              <a:defRPr/>
            </a:pP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lvl="1">
              <a:defRPr/>
            </a:pP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>
              <a:defRPr/>
            </a:pPr>
            <a:r>
              <a:rPr lang="en-US" altLang="ko-KR" sz="1400" b="1" dirty="0">
                <a:latin typeface="맑은 고딕" pitchFamily="50" charset="-127"/>
                <a:ea typeface="맑은 고딕" pitchFamily="50" charset="-127"/>
                <a:cs typeface="+mn-cs"/>
              </a:rPr>
              <a:t>[</a:t>
            </a:r>
            <a:r>
              <a:rPr lang="ko-KR" altLang="en-US" sz="1400" b="1" dirty="0">
                <a:latin typeface="맑은 고딕" pitchFamily="50" charset="-127"/>
                <a:ea typeface="맑은 고딕" pitchFamily="50" charset="-127"/>
                <a:cs typeface="+mn-cs"/>
              </a:rPr>
              <a:t>강의교안 이용 안내</a:t>
            </a:r>
            <a:r>
              <a:rPr lang="en-US" altLang="ko-KR" sz="1400" b="1" dirty="0">
                <a:latin typeface="맑은 고딕" pitchFamily="50" charset="-127"/>
                <a:ea typeface="맑은 고딕" pitchFamily="50" charset="-127"/>
                <a:cs typeface="+mn-cs"/>
              </a:rPr>
              <a:t>]</a:t>
            </a:r>
          </a:p>
          <a:p>
            <a:pPr>
              <a:defRPr/>
            </a:pPr>
            <a:endParaRPr lang="en-US" altLang="ko-KR" sz="1000" dirty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dirty="0">
                <a:latin typeface="맑은 고딕" pitchFamily="50" charset="-127"/>
                <a:ea typeface="맑은 고딕" pitchFamily="50" charset="-127"/>
                <a:cs typeface="+mn-cs"/>
              </a:rPr>
              <a:t>본 강의교안의 저작권은 </a:t>
            </a:r>
            <a:r>
              <a:rPr lang="ko-KR" altLang="en-US" sz="1000" dirty="0" err="1">
                <a:latin typeface="맑은 고딕" pitchFamily="50" charset="-127"/>
                <a:ea typeface="맑은 고딕" pitchFamily="50" charset="-127"/>
                <a:cs typeface="+mn-cs"/>
              </a:rPr>
              <a:t>한빛미디어</a:t>
            </a:r>
            <a:r>
              <a:rPr lang="ko-KR" altLang="en-US" sz="1000" dirty="0">
                <a:latin typeface="맑은 고딕" pitchFamily="50" charset="-127"/>
                <a:ea typeface="맑은 고딕" pitchFamily="50" charset="-127"/>
                <a:cs typeface="+mn-cs"/>
              </a:rPr>
              <a:t>㈜에 있습니다</a:t>
            </a:r>
            <a:r>
              <a:rPr lang="en-US" altLang="ko-KR" sz="1000" dirty="0"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 </a:t>
            </a:r>
            <a:endParaRPr lang="en-US" altLang="ko-KR" sz="1000" dirty="0">
              <a:solidFill>
                <a:srgbClr val="222222"/>
              </a:solidFill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171450" indent="-171450">
              <a:buFont typeface="Arial" pitchFamily="34" charset="0"/>
              <a:buChar char="•"/>
              <a:defRPr/>
            </a:pP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이 자료를 무단으로 전제하거나 배포할 경우 저작권법 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136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조에 의거하여 최고 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년 이하의 징역 또는 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5</a:t>
            </a:r>
            <a:r>
              <a:rPr lang="ko-KR" altLang="en-US" sz="1000" u="sng" dirty="0" err="1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천만원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 이하의 벌금에 처할 수 있고 이를 병과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(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倂科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)</a:t>
            </a:r>
          </a:p>
          <a:p>
            <a:pPr>
              <a:buFont typeface="Arial" pitchFamily="34" charset="0"/>
              <a:buNone/>
              <a:defRPr/>
            </a:pPr>
            <a:r>
              <a:rPr lang="ko-KR" altLang="en-US" sz="1000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    </a:t>
            </a:r>
            <a:r>
              <a:rPr lang="ko-KR" altLang="en-US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할 수도 있습니다</a:t>
            </a:r>
            <a:r>
              <a:rPr lang="en-US" altLang="ko-KR" sz="1000" u="sng" dirty="0">
                <a:solidFill>
                  <a:srgbClr val="222222"/>
                </a:solidFill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</a:p>
          <a:p>
            <a:pPr>
              <a:defRPr/>
            </a:pPr>
            <a:endParaRPr lang="ko-KR" altLang="en-US" sz="1000" dirty="0"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2" descr="hanbitmedia logo_RGB_72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50125" y="6303963"/>
            <a:ext cx="17272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7"/>
          <p:cNvSpPr txBox="1">
            <a:spLocks noChangeArrowheads="1"/>
          </p:cNvSpPr>
          <p:nvPr userDrawn="1"/>
        </p:nvSpPr>
        <p:spPr bwMode="auto">
          <a:xfrm>
            <a:off x="2176463" y="3205163"/>
            <a:ext cx="7186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altLang="ko-KR" sz="1800" dirty="0" smtClean="0">
                <a:solidFill>
                  <a:srgbClr val="BFBFBF"/>
                </a:solidFill>
                <a:latin typeface="HY견고딕" pitchFamily="18" charset="-127"/>
                <a:ea typeface="HY견고딕" pitchFamily="18" charset="-127"/>
              </a:rPr>
              <a:t>IT CookBook, </a:t>
            </a:r>
            <a:r>
              <a:rPr lang="ko-KR" altLang="en-US" sz="1800" dirty="0" smtClean="0">
                <a:solidFill>
                  <a:srgbClr val="BFBFBF"/>
                </a:solidFill>
                <a:latin typeface="HY견고딕" pitchFamily="18" charset="-127"/>
                <a:ea typeface="HY견고딕" pitchFamily="18" charset="-127"/>
              </a:rPr>
              <a:t>안드로이드 프로그래밍</a:t>
            </a:r>
            <a:endParaRPr lang="de-DE" altLang="ko-KR" sz="1200" dirty="0" smtClean="0">
              <a:solidFill>
                <a:srgbClr val="BFBFBF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11162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806292" y="901031"/>
            <a:ext cx="7485063" cy="108108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b"/>
          <a:lstStyle>
            <a:lvl1pPr>
              <a:lnSpc>
                <a:spcPct val="110000"/>
              </a:lnSpc>
              <a:defRPr sz="3200" b="0">
                <a:latin typeface="HY견고딕" pitchFamily="18" charset="-127"/>
                <a:ea typeface="HY견고딕" pitchFamily="18" charset="-127"/>
              </a:defRPr>
            </a:lvl1pPr>
          </a:lstStyle>
          <a:p>
            <a:pPr lvl="0"/>
            <a:r>
              <a:rPr lang="ko-KR" altLang="en-US" noProof="0" dirty="0" smtClean="0"/>
              <a:t>마스터 제목 스타일 편집</a:t>
            </a:r>
            <a:endParaRPr lang="de-DE" noProof="0" dirty="0"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학습목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58750" y="242888"/>
            <a:ext cx="8516938" cy="5222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dirty="0" smtClean="0">
                <a:latin typeface="HY견고딕" pitchFamily="18" charset="-127"/>
                <a:ea typeface="HY견고딕" pitchFamily="18" charset="-127"/>
              </a:rPr>
              <a:t>학습목표</a:t>
            </a:r>
          </a:p>
        </p:txBody>
      </p:sp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3200" y="684213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7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9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10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8" name="Picture 195" descr="Untitled-4 cop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직사각형 13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975" indent="-180975">
              <a:buFont typeface="Arial" pitchFamily="34" charset="0"/>
              <a:buChar char="•"/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차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6"/>
          <p:cNvSpPr txBox="1">
            <a:spLocks noChangeArrowheads="1"/>
          </p:cNvSpPr>
          <p:nvPr userDrawn="1"/>
        </p:nvSpPr>
        <p:spPr bwMode="auto">
          <a:xfrm>
            <a:off x="158750" y="252413"/>
            <a:ext cx="8516938" cy="5222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dirty="0" smtClean="0">
                <a:latin typeface="HY견고딕" pitchFamily="18" charset="-127"/>
                <a:ea typeface="HY견고딕" pitchFamily="18" charset="-127"/>
              </a:rPr>
              <a:t>차례</a:t>
            </a:r>
          </a:p>
        </p:txBody>
      </p:sp>
      <p:pic>
        <p:nvPicPr>
          <p:cNvPr id="3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3200" y="684213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5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7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8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6" name="Picture 195" descr="Untitled-4 cop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직사각형 13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0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3200" y="684213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6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8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9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7" name="Picture 195" descr="Untitled-4 cop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직사각형 12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1" name="직사각형 13"/>
          <p:cNvSpPr>
            <a:spLocks noChangeArrowheads="1"/>
          </p:cNvSpPr>
          <p:nvPr userDrawn="1"/>
        </p:nvSpPr>
        <p:spPr bwMode="auto">
          <a:xfrm>
            <a:off x="152400" y="152400"/>
            <a:ext cx="89916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00038" y="330614"/>
            <a:ext cx="8520112" cy="6477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 sz="2800" b="0">
                <a:latin typeface="HY견고딕" pitchFamily="18" charset="-127"/>
                <a:ea typeface="HY견고딕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975" indent="-180975">
              <a:buFont typeface="Arial" pitchFamily="34" charset="0"/>
              <a:buChar char="•"/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ck">
    <p:bg>
      <p:bgPr>
        <a:gradFill>
          <a:gsLst>
            <a:gs pos="0">
              <a:schemeClr val="accent1">
                <a:lumMod val="100000"/>
              </a:schemeClr>
            </a:gs>
            <a:gs pos="50000">
              <a:schemeClr val="accent1">
                <a:tint val="44500"/>
                <a:satMod val="160000"/>
              </a:schemeClr>
            </a:gs>
            <a:gs pos="100000">
              <a:schemeClr val="accent1">
                <a:tint val="23500"/>
                <a:satMod val="16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58750" y="266700"/>
            <a:ext cx="8516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smtClean="0">
                <a:latin typeface="HY견고딕" pitchFamily="18" charset="-127"/>
                <a:ea typeface="HY견고딕" pitchFamily="18" charset="-127"/>
                <a:sym typeface="Wingdings 2" pitchFamily="18" charset="2"/>
              </a:rPr>
              <a:t> </a:t>
            </a:r>
            <a:r>
              <a:rPr lang="en-US" altLang="ko-KR" sz="2800" i="1" smtClean="0">
                <a:latin typeface="HY견고딕" pitchFamily="18" charset="-127"/>
                <a:ea typeface="HY견고딕" pitchFamily="18" charset="-127"/>
                <a:sym typeface="Wingdings 2" pitchFamily="18" charset="2"/>
              </a:rPr>
              <a:t>check</a:t>
            </a:r>
            <a:endParaRPr lang="ko-KR" altLang="en-US" sz="2800" smtClean="0">
              <a:latin typeface="HY견고딕" pitchFamily="18" charset="-127"/>
              <a:ea typeface="HY견고딕" pitchFamily="18" charset="-127"/>
            </a:endParaRPr>
          </a:p>
        </p:txBody>
      </p:sp>
      <p:grpSp>
        <p:nvGrpSpPr>
          <p:cNvPr id="5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6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8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9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7" name="Picture 195" descr="Untitled-4 copy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975" indent="-180975">
              <a:buFont typeface="Arial" pitchFamily="34" charset="0"/>
              <a:buChar char="•"/>
              <a:defRPr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핵심정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 userDrawn="1"/>
        </p:nvSpPr>
        <p:spPr bwMode="auto">
          <a:xfrm>
            <a:off x="158750" y="266700"/>
            <a:ext cx="8516938" cy="5238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ko-KR" altLang="en-US" sz="2800" dirty="0" smtClean="0">
                <a:latin typeface="HY견고딕" pitchFamily="18" charset="-127"/>
                <a:ea typeface="HY견고딕" pitchFamily="18" charset="-127"/>
              </a:rPr>
              <a:t>핵심정리</a:t>
            </a:r>
          </a:p>
        </p:txBody>
      </p:sp>
      <p:pic>
        <p:nvPicPr>
          <p:cNvPr id="5" name="그림 29" descr="쿡북로고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23200" y="684213"/>
            <a:ext cx="1079500" cy="28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6" name="Group 191"/>
          <p:cNvGrpSpPr>
            <a:grpSpLocks/>
          </p:cNvGrpSpPr>
          <p:nvPr userDrawn="1"/>
        </p:nvGrpSpPr>
        <p:grpSpPr bwMode="auto">
          <a:xfrm>
            <a:off x="226419" y="941402"/>
            <a:ext cx="8675591" cy="131762"/>
            <a:chOff x="192" y="446"/>
            <a:chExt cx="5513" cy="78"/>
          </a:xfrm>
          <a:solidFill>
            <a:srgbClr val="592A03"/>
          </a:solidFill>
        </p:grpSpPr>
        <p:grpSp>
          <p:nvGrpSpPr>
            <p:cNvPr id="7" name="Group 192"/>
            <p:cNvGrpSpPr>
              <a:grpSpLocks/>
            </p:cNvGrpSpPr>
            <p:nvPr/>
          </p:nvGrpSpPr>
          <p:grpSpPr bwMode="auto">
            <a:xfrm>
              <a:off x="192" y="446"/>
              <a:ext cx="5513" cy="78"/>
              <a:chOff x="192" y="446"/>
              <a:chExt cx="5513" cy="78"/>
            </a:xfrm>
            <a:grpFill/>
          </p:grpSpPr>
          <p:sp>
            <p:nvSpPr>
              <p:cNvPr id="9" name="Rectangle 193"/>
              <p:cNvSpPr>
                <a:spLocks noChangeArrowheads="1"/>
              </p:cNvSpPr>
              <p:nvPr/>
            </p:nvSpPr>
            <p:spPr bwMode="gray">
              <a:xfrm>
                <a:off x="192" y="446"/>
                <a:ext cx="1488" cy="78"/>
              </a:xfrm>
              <a:prstGeom prst="rect">
                <a:avLst/>
              </a:prstGeom>
              <a:solidFill>
                <a:srgbClr val="6B3305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ea typeface="굴림" charset="-127"/>
                  <a:cs typeface="+mn-cs"/>
                </a:endParaRPr>
              </a:p>
            </p:txBody>
          </p:sp>
          <p:sp>
            <p:nvSpPr>
              <p:cNvPr id="10" name="Line 194"/>
              <p:cNvSpPr>
                <a:spLocks noChangeShapeType="1"/>
              </p:cNvSpPr>
              <p:nvPr/>
            </p:nvSpPr>
            <p:spPr bwMode="gray">
              <a:xfrm>
                <a:off x="192" y="519"/>
                <a:ext cx="5513" cy="0"/>
              </a:xfrm>
              <a:prstGeom prst="line">
                <a:avLst/>
              </a:prstGeom>
              <a:grpFill/>
              <a:ln w="19050">
                <a:solidFill>
                  <a:srgbClr val="660033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ko-KR" altLang="en-US" sz="1800">
                  <a:solidFill>
                    <a:srgbClr val="000000"/>
                  </a:solidFill>
                  <a:cs typeface="+mn-cs"/>
                </a:endParaRPr>
              </a:p>
            </p:txBody>
          </p:sp>
        </p:grpSp>
        <p:pic>
          <p:nvPicPr>
            <p:cNvPr id="8" name="Picture 195" descr="Untitled-4 copy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gray">
            <a:xfrm>
              <a:off x="300" y="451"/>
              <a:ext cx="72" cy="7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" name="직사각형 13"/>
          <p:cNvSpPr>
            <a:spLocks noChangeArrowheads="1"/>
          </p:cNvSpPr>
          <p:nvPr userDrawn="1"/>
        </p:nvSpPr>
        <p:spPr bwMode="auto">
          <a:xfrm>
            <a:off x="0" y="0"/>
            <a:ext cx="9144000" cy="211138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90000" tIns="46800" rIns="90000" bIns="46800" anchor="ctr"/>
          <a:lstStyle/>
          <a:p>
            <a:endParaRPr lang="ko-KR" altLang="en-US">
              <a:ea typeface="굴림" charset="-127"/>
            </a:endParaRPr>
          </a:p>
        </p:txBody>
      </p:sp>
      <p:sp>
        <p:nvSpPr>
          <p:cNvPr id="12" name="TextBox 5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80975" indent="-180975">
              <a:buFont typeface="Arial" pitchFamily="34" charset="0"/>
              <a:buChar char="•"/>
              <a:defRPr/>
            </a:lvl1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끝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2" descr="hanbitmedia logo_RGB_72"/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50125" y="6303963"/>
            <a:ext cx="17272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WordArt 3"/>
          <p:cNvSpPr>
            <a:spLocks noChangeArrowheads="1" noChangeShapeType="1" noTextEdit="1"/>
          </p:cNvSpPr>
          <p:nvPr userDrawn="1"/>
        </p:nvSpPr>
        <p:spPr bwMode="gray">
          <a:xfrm>
            <a:off x="974435" y="1998926"/>
            <a:ext cx="4724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>
              <a:defRPr/>
            </a:pPr>
            <a:r>
              <a:rPr lang="en-US" altLang="ko-KR" sz="5400" b="1" kern="10" spc="50" dirty="0">
                <a:ln w="12700" cmpd="sng">
                  <a:solidFill>
                    <a:schemeClr val="accent6">
                      <a:satMod val="120000"/>
                      <a:shade val="80000"/>
                    </a:schemeClr>
                  </a:solidFill>
                  <a:prstDash val="solid"/>
                </a:ln>
                <a:solidFill>
                  <a:schemeClr val="accent6">
                    <a:tint val="1000"/>
                  </a:schemeClr>
                </a:solidFill>
                <a:effectLst>
                  <a:glow rad="53100">
                    <a:schemeClr val="accent6">
                      <a:satMod val="180000"/>
                      <a:alpha val="30000"/>
                    </a:schemeClr>
                  </a:glow>
                </a:effectLst>
                <a:latin typeface="Verdana"/>
                <a:cs typeface="+mn-cs"/>
              </a:rPr>
              <a:t>Thank You !</a:t>
            </a:r>
            <a:endParaRPr lang="ko-KR" altLang="en-US" sz="5400" b="1" kern="10" spc="50" dirty="0">
              <a:ln w="12700" cmpd="sng">
                <a:solidFill>
                  <a:schemeClr val="accent6">
                    <a:satMod val="120000"/>
                    <a:shade val="80000"/>
                  </a:schemeClr>
                </a:solidFill>
                <a:prstDash val="solid"/>
              </a:ln>
              <a:solidFill>
                <a:schemeClr val="accent6">
                  <a:tint val="1000"/>
                </a:schemeClr>
              </a:solidFill>
              <a:effectLst>
                <a:glow rad="53100">
                  <a:schemeClr val="accent6">
                    <a:satMod val="180000"/>
                    <a:alpha val="30000"/>
                  </a:schemeClr>
                </a:glow>
              </a:effectLst>
              <a:latin typeface="Verdana"/>
              <a:cs typeface="+mn-cs"/>
            </a:endParaRPr>
          </a:p>
        </p:txBody>
      </p:sp>
      <p:sp>
        <p:nvSpPr>
          <p:cNvPr id="4" name="TextBox 8"/>
          <p:cNvSpPr txBox="1">
            <a:spLocks noChangeArrowheads="1"/>
          </p:cNvSpPr>
          <p:nvPr userDrawn="1"/>
        </p:nvSpPr>
        <p:spPr bwMode="auto">
          <a:xfrm>
            <a:off x="2176463" y="3205163"/>
            <a:ext cx="71866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de-DE" altLang="ko-KR" sz="1800" dirty="0" smtClean="0">
                <a:solidFill>
                  <a:srgbClr val="BFBFBF"/>
                </a:solidFill>
                <a:latin typeface="HY견고딕" pitchFamily="18" charset="-127"/>
                <a:ea typeface="HY견고딕" pitchFamily="18" charset="-127"/>
              </a:rPr>
              <a:t>IT CookBook, </a:t>
            </a:r>
            <a:r>
              <a:rPr lang="ko-KR" altLang="en-US" sz="1800" dirty="0" smtClean="0">
                <a:solidFill>
                  <a:srgbClr val="BFBFBF"/>
                </a:solidFill>
                <a:latin typeface="HY견고딕" pitchFamily="18" charset="-127"/>
                <a:ea typeface="HY견고딕" pitchFamily="18" charset="-127"/>
              </a:rPr>
              <a:t>안드로이드 프로그래밍</a:t>
            </a:r>
            <a:endParaRPr lang="de-DE" altLang="ko-KR" sz="1200" dirty="0" smtClean="0">
              <a:solidFill>
                <a:srgbClr val="BFBFBF"/>
              </a:solidFill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5" name="TextBox 4"/>
          <p:cNvSpPr txBox="1">
            <a:spLocks noChangeArrowheads="1"/>
          </p:cNvSpPr>
          <p:nvPr userDrawn="1"/>
        </p:nvSpPr>
        <p:spPr bwMode="auto">
          <a:xfrm>
            <a:off x="3157538" y="6373813"/>
            <a:ext cx="26876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ea typeface="굴림" charset="-127"/>
              </a:rPr>
              <a:t>Copyright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© 1993-2012 </a:t>
            </a:r>
            <a:r>
              <a:rPr lang="en-US" altLang="ko-KR" sz="1000" dirty="0" err="1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Hanbit</a:t>
            </a: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 Media, Inc.</a:t>
            </a:r>
          </a:p>
          <a:p>
            <a:pPr algn="ctr" eaLnBrk="1" hangingPunct="1">
              <a:defRPr/>
            </a:pPr>
            <a:r>
              <a:rPr lang="en-US" altLang="ko-KR" sz="1000" dirty="0" smtClean="0">
                <a:solidFill>
                  <a:schemeClr val="bg1">
                    <a:lumMod val="65000"/>
                  </a:schemeClr>
                </a:solidFill>
                <a:latin typeface="굴림" charset="-127"/>
                <a:ea typeface="굴림" charset="-127"/>
              </a:rPr>
              <a:t>All rights reserved.</a:t>
            </a:r>
            <a:endParaRPr lang="ko-KR" altLang="ko-KR" sz="1000" dirty="0" smtClean="0">
              <a:solidFill>
                <a:schemeClr val="bg1">
                  <a:lumMod val="65000"/>
                </a:schemeClr>
              </a:solidFill>
              <a:ea typeface="굴림" charset="-127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0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95275" y="1489075"/>
            <a:ext cx="8524875" cy="4313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 smtClean="0"/>
              <a:t>Textmasterformate durch Klicken bearbeiten</a:t>
            </a:r>
          </a:p>
          <a:p>
            <a:pPr lvl="1"/>
            <a:r>
              <a:rPr lang="de-DE" altLang="ko-KR" smtClean="0"/>
              <a:t>Zweite Ebene</a:t>
            </a:r>
          </a:p>
          <a:p>
            <a:pPr lvl="2"/>
            <a:r>
              <a:rPr lang="de-DE" altLang="ko-KR" smtClean="0"/>
              <a:t>Dritte Ebene</a:t>
            </a:r>
          </a:p>
          <a:p>
            <a:pPr lvl="3"/>
            <a:r>
              <a:rPr lang="de-DE" altLang="ko-KR" smtClean="0"/>
              <a:t>Vierte Ebene</a:t>
            </a:r>
          </a:p>
          <a:p>
            <a:pPr lvl="4"/>
            <a:r>
              <a:rPr lang="de-DE" altLang="ko-KR" smtClean="0"/>
              <a:t>Fünfte Ebene</a:t>
            </a:r>
          </a:p>
        </p:txBody>
      </p:sp>
      <p:sp>
        <p:nvSpPr>
          <p:cNvPr id="110595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365875"/>
            <a:ext cx="2895600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noProof="1">
                <a:solidFill>
                  <a:schemeClr val="bg1"/>
                </a:solidFill>
                <a:cs typeface="+mn-cs"/>
              </a:defRPr>
            </a:lvl1pPr>
          </a:lstStyle>
          <a:p>
            <a:pPr>
              <a:defRPr/>
            </a:pPr>
            <a:endParaRPr lang="ko-KR"/>
          </a:p>
        </p:txBody>
      </p:sp>
      <p:sp>
        <p:nvSpPr>
          <p:cNvPr id="1028" name="Rectangle 7"/>
          <p:cNvSpPr>
            <a:spLocks noGrp="1" noChangeArrowheads="1"/>
          </p:cNvSpPr>
          <p:nvPr>
            <p:ph type="title"/>
          </p:nvPr>
        </p:nvSpPr>
        <p:spPr bwMode="gray">
          <a:xfrm>
            <a:off x="300038" y="411163"/>
            <a:ext cx="8520112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ko-KR" smtClean="0"/>
              <a:t>Klicken Sie, um das Titelformat zu bearbeiten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gray">
          <a:xfrm>
            <a:off x="219075" y="6365875"/>
            <a:ext cx="1343025" cy="24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r>
              <a:rPr lang="de-DE" altLang="ko-KR" sz="1000">
                <a:ea typeface="굴림" charset="-127"/>
              </a:rPr>
              <a:t>Page </a:t>
            </a:r>
            <a:r>
              <a:rPr lang="de-DE" altLang="ko-KR" sz="1000">
                <a:ea typeface="굴림" charset="-127"/>
                <a:sym typeface="Wingdings" pitchFamily="2" charset="2"/>
              </a:rPr>
              <a:t></a:t>
            </a:r>
            <a:r>
              <a:rPr lang="de-DE" altLang="ko-KR" sz="1000">
                <a:ea typeface="굴림" charset="-127"/>
              </a:rPr>
              <a:t> </a:t>
            </a:r>
            <a:fld id="{86F4A8A0-048C-4620-A43C-923312CDEA00}" type="slidenum">
              <a:rPr lang="de-DE" altLang="ko-KR" sz="1000">
                <a:ea typeface="굴림" charset="-127"/>
              </a:rPr>
              <a:pPr/>
              <a:t>‹#›</a:t>
            </a:fld>
            <a:endParaRPr lang="de-DE" altLang="ko-KR" sz="1000">
              <a:ea typeface="굴림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8" r:id="rId1"/>
    <p:sldLayoutId id="2147484079" r:id="rId2"/>
    <p:sldLayoutId id="2147484080" r:id="rId3"/>
    <p:sldLayoutId id="2147484081" r:id="rId4"/>
    <p:sldLayoutId id="2147484082" r:id="rId5"/>
    <p:sldLayoutId id="2147484083" r:id="rId6"/>
    <p:sldLayoutId id="2147484084" r:id="rId7"/>
    <p:sldLayoutId id="2147484085" r:id="rId8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180975" indent="-180975" algn="l" rtl="0" eaLnBrk="0" fontAlgn="base" hangingPunct="0">
        <a:spcBef>
          <a:spcPct val="0"/>
        </a:spcBef>
        <a:spcAft>
          <a:spcPct val="40000"/>
        </a:spcAft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444500" indent="-261938" algn="l" rtl="0" eaLnBrk="0" fontAlgn="base" hangingPunct="0">
        <a:spcBef>
          <a:spcPct val="0"/>
        </a:spcBef>
        <a:spcAft>
          <a:spcPct val="40000"/>
        </a:spcAft>
        <a:buChar char="–"/>
        <a:defRPr>
          <a:solidFill>
            <a:schemeClr val="tx1"/>
          </a:solidFill>
          <a:latin typeface="+mn-lt"/>
          <a:cs typeface="+mn-cs"/>
        </a:defRPr>
      </a:lvl2pPr>
      <a:lvl3pPr marL="720725" indent="-274638" algn="l" rtl="0" eaLnBrk="0" fontAlgn="base" hangingPunct="0">
        <a:spcBef>
          <a:spcPct val="0"/>
        </a:spcBef>
        <a:spcAft>
          <a:spcPct val="40000"/>
        </a:spcAft>
        <a:buChar char="•"/>
        <a:defRPr>
          <a:solidFill>
            <a:schemeClr val="tx1"/>
          </a:solidFill>
          <a:latin typeface="+mn-lt"/>
          <a:cs typeface="+mn-cs"/>
        </a:defRPr>
      </a:lvl3pPr>
      <a:lvl4pPr marL="987425" indent="-265113" algn="l" rtl="0" eaLnBrk="0" fontAlgn="base" hangingPunct="0">
        <a:spcBef>
          <a:spcPct val="0"/>
        </a:spcBef>
        <a:spcAft>
          <a:spcPct val="40000"/>
        </a:spcAft>
        <a:buChar char="–"/>
        <a:defRPr>
          <a:solidFill>
            <a:schemeClr val="tx1"/>
          </a:solidFill>
          <a:latin typeface="+mn-lt"/>
          <a:cs typeface="+mn-cs"/>
        </a:defRPr>
      </a:lvl4pPr>
      <a:lvl5pPr marL="1254125" indent="-265113" algn="l" rtl="0" eaLnBrk="0" fontAlgn="base" hangingPunct="0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5pPr>
      <a:lvl6pPr marL="17113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6pPr>
      <a:lvl7pPr marL="21685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7pPr>
      <a:lvl8pPr marL="26257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8pPr>
      <a:lvl9pPr marL="3082925" indent="-265113" algn="l" rtl="0" fontAlgn="base">
        <a:spcBef>
          <a:spcPct val="0"/>
        </a:spcBef>
        <a:spcAft>
          <a:spcPct val="40000"/>
        </a:spcAft>
        <a:buChar char="»"/>
        <a:defRPr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액티비티와 인텐트 응용 ▶</a:t>
            </a:r>
            <a:r>
              <a:rPr lang="ko-KR" altLang="en-US" sz="2400" dirty="0" smtClean="0"/>
              <a:t> 암시적 인텐트</a:t>
            </a:r>
            <a:endParaRPr lang="ko-KR" altLang="en-US" dirty="0" smtClean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332012" y="1289785"/>
            <a:ext cx="8524875" cy="5111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60000" lvl="0" indent="-342000" eaLnBrk="0" hangingPunct="0">
              <a:spcAft>
                <a:spcPct val="40000"/>
              </a:spcAft>
              <a:buFont typeface="Wingdings" pitchFamily="2" charset="2"/>
              <a:buChar char="v"/>
              <a:defRPr/>
            </a:pP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암시적 인텐트 개요 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(1/2)</a:t>
            </a:r>
            <a:endParaRPr kumimoji="0" lang="en-US" altLang="ko-KR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r>
              <a:rPr lang="ko-KR" altLang="en-US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암시적 인텐트의 개념은 약속된 액션</a:t>
            </a:r>
            <a:r>
              <a:rPr lang="en-US" altLang="ko-KR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(Action)</a:t>
            </a:r>
            <a:r>
              <a:rPr lang="ko-KR" altLang="en-US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을 지정하여 안드로이드에서 제공하는 기존 응용 프로그램을 실행하는 것</a:t>
            </a: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r>
              <a:rPr lang="ko-KR" altLang="en-US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예로 전화번호를 인텐트로 넘기면 전화 걸기 응용 프로그램이 실행됨</a:t>
            </a:r>
            <a:r>
              <a:rPr lang="en-US" altLang="ko-KR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.</a:t>
            </a: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21568" y="3302820"/>
            <a:ext cx="441960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액티비티와 인텐트 응용 ▶</a:t>
            </a:r>
            <a:r>
              <a:rPr lang="ko-KR" altLang="en-US" sz="2400" dirty="0" smtClean="0"/>
              <a:t> 암시적 인텐트</a:t>
            </a:r>
            <a:endParaRPr lang="ko-KR" altLang="en-US" dirty="0" smtClean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332012" y="1289785"/>
            <a:ext cx="8524875" cy="5111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60000" lvl="0" indent="-342000" eaLnBrk="0" hangingPunct="0">
              <a:spcAft>
                <a:spcPct val="40000"/>
              </a:spcAft>
              <a:buFont typeface="Wingdings" pitchFamily="2" charset="2"/>
              <a:buChar char="v"/>
              <a:defRPr/>
            </a:pP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암시적 인텐트 개요 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(2/2)</a:t>
            </a:r>
            <a:endParaRPr kumimoji="0" lang="en-US" altLang="ko-KR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r>
              <a:rPr lang="en-US" altLang="ko-KR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911</a:t>
            </a:r>
            <a:r>
              <a:rPr lang="ko-KR" altLang="en-US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에 응급 전화를 거는 형식</a:t>
            </a:r>
            <a:endParaRPr lang="en-US" altLang="ko-KR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r>
              <a:rPr lang="ko-KR" altLang="en-US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전화 걸기를 하려면 </a:t>
            </a:r>
            <a:r>
              <a:rPr lang="en-US" altLang="ko-KR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AndroidMahnifest.xml</a:t>
            </a:r>
            <a:r>
              <a:rPr lang="ko-KR" altLang="en-US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에 다음과 같이 권한을 추가</a:t>
            </a: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2699" y="2240681"/>
            <a:ext cx="6799263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94197" y="4380749"/>
            <a:ext cx="6324600" cy="69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액티비티와 인텐트 응용 ▶</a:t>
            </a:r>
            <a:r>
              <a:rPr lang="ko-KR" altLang="en-US" sz="2400" dirty="0" smtClean="0"/>
              <a:t> 암시적 인텐트</a:t>
            </a:r>
            <a:endParaRPr lang="ko-KR" altLang="en-US" dirty="0" smtClean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332012" y="1289785"/>
            <a:ext cx="8524875" cy="5111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60000" lvl="0" indent="-342000" eaLnBrk="0" hangingPunct="0">
              <a:spcAft>
                <a:spcPct val="40000"/>
              </a:spcAft>
              <a:buFont typeface="Wingdings" pitchFamily="2" charset="2"/>
              <a:buChar char="v"/>
              <a:defRPr/>
            </a:pP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암시적 인텐트 예제 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: XML</a:t>
            </a: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코드</a:t>
            </a:r>
            <a:endParaRPr kumimoji="0" lang="en-US" altLang="ko-KR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pic>
        <p:nvPicPr>
          <p:cNvPr id="75778" name="Picture 2" descr="C:\Users\hp\AppData\Local\Temp\SNAGHTML1ba5a86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50052" y="1718549"/>
            <a:ext cx="3344946" cy="4928113"/>
          </a:xfrm>
          <a:prstGeom prst="rect">
            <a:avLst/>
          </a:prstGeom>
          <a:noFill/>
        </p:spPr>
      </p:pic>
      <p:pic>
        <p:nvPicPr>
          <p:cNvPr id="75779" name="Picture 3" descr="C:\#Ucloud\안드로이드 집필\$2차완성\10장그림(0229)\10-13#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72684" y="2752825"/>
            <a:ext cx="2722082" cy="28071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액티비티와 인텐트 응용 ▶</a:t>
            </a:r>
            <a:r>
              <a:rPr lang="ko-KR" altLang="en-US" sz="2400" dirty="0" smtClean="0"/>
              <a:t> 암시적 인텐트</a:t>
            </a:r>
            <a:endParaRPr lang="ko-KR" altLang="en-US" dirty="0" smtClean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332012" y="1289785"/>
            <a:ext cx="8524875" cy="5111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60000" lvl="0" indent="-342000" eaLnBrk="0" hangingPunct="0">
              <a:spcAft>
                <a:spcPct val="40000"/>
              </a:spcAft>
              <a:buFont typeface="Wingdings" pitchFamily="2" charset="2"/>
              <a:buChar char="v"/>
              <a:defRPr/>
            </a:pP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암시적 인텐트 예제 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: Java </a:t>
            </a: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코드 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(1/3)</a:t>
            </a:r>
            <a:endParaRPr kumimoji="0" lang="en-US" altLang="ko-KR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5345" y="2217922"/>
            <a:ext cx="5993432" cy="3740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899" name="Picture 3" descr="C:\#Ucloud\안드로이드 집필\$2차완성\10장그림(0229)\10-14#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29379" y="1737751"/>
            <a:ext cx="2126839" cy="2402381"/>
          </a:xfrm>
          <a:prstGeom prst="rect">
            <a:avLst/>
          </a:prstGeom>
          <a:noFill/>
        </p:spPr>
      </p:pic>
      <p:pic>
        <p:nvPicPr>
          <p:cNvPr id="80900" name="Picture 4" descr="C:\#Ucloud\안드로이드 집필\$2차완성\10장그림(0229)\10-15#.bmp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28862" y="4576812"/>
            <a:ext cx="2126839" cy="190296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액티비티와 인텐트 응용 ▶</a:t>
            </a:r>
            <a:r>
              <a:rPr lang="ko-KR" altLang="en-US" sz="2400" dirty="0" smtClean="0"/>
              <a:t> 암시적 인텐트</a:t>
            </a:r>
            <a:endParaRPr lang="ko-KR" altLang="en-US" dirty="0" smtClean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332012" y="1289785"/>
            <a:ext cx="8524875" cy="5111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60000" lvl="0" indent="-342000" eaLnBrk="0" hangingPunct="0">
              <a:spcAft>
                <a:spcPct val="40000"/>
              </a:spcAft>
              <a:buFont typeface="Wingdings" pitchFamily="2" charset="2"/>
              <a:buChar char="v"/>
              <a:defRPr/>
            </a:pP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암시적 인텐트 예제 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: Java </a:t>
            </a: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코드 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</a:rPr>
              <a:t>(2/3)</a:t>
            </a:r>
            <a:endParaRPr kumimoji="0" lang="en-US" altLang="ko-KR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484" y="2211617"/>
            <a:ext cx="5946125" cy="35599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3" name="Picture 3" descr="C:\#Ucloud\안드로이드 집필\$2차완성\10장그림(0229)\10-16#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319631" y="1514167"/>
            <a:ext cx="2537684" cy="2317238"/>
          </a:xfrm>
          <a:prstGeom prst="rect">
            <a:avLst/>
          </a:prstGeom>
          <a:noFill/>
        </p:spPr>
      </p:pic>
      <p:pic>
        <p:nvPicPr>
          <p:cNvPr id="81924" name="Picture 4" descr="C:\#Ucloud\안드로이드 집필\$2차완성\10장그림(0229)\10-17#.bmp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50716" y="4090946"/>
            <a:ext cx="2532557" cy="230698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1"/>
          <p:cNvSpPr>
            <a:spLocks noGrp="1"/>
          </p:cNvSpPr>
          <p:nvPr>
            <p:ph type="title"/>
          </p:nvPr>
        </p:nvSpPr>
        <p:spPr>
          <a:xfrm>
            <a:off x="300038" y="330200"/>
            <a:ext cx="8520112" cy="647700"/>
          </a:xfrm>
        </p:spPr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액티비티와 인텐트 응용 ▶</a:t>
            </a:r>
            <a:r>
              <a:rPr lang="ko-KR" altLang="en-US" sz="2400" dirty="0" smtClean="0"/>
              <a:t> 암시적 인텐트</a:t>
            </a:r>
            <a:endParaRPr lang="ko-KR" altLang="en-US" dirty="0" smtClean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 bwMode="auto">
          <a:xfrm>
            <a:off x="332012" y="1289785"/>
            <a:ext cx="8524875" cy="5111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marL="360000" lvl="0" indent="-342000" eaLnBrk="0" hangingPunct="0">
              <a:spcAft>
                <a:spcPct val="40000"/>
              </a:spcAft>
              <a:buFont typeface="Wingdings" pitchFamily="2" charset="2"/>
              <a:buChar char="v"/>
              <a:defRPr/>
            </a:pP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암시적 인텐트 예제 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: Java </a:t>
            </a:r>
            <a:r>
              <a:rPr lang="ko-KR" altLang="en-US" sz="2400" b="1" kern="0" dirty="0" smtClean="0">
                <a:latin typeface="맑은 고딕" pitchFamily="50" charset="-127"/>
                <a:ea typeface="맑은 고딕" pitchFamily="50" charset="-127"/>
                <a:cs typeface="+mn-cs"/>
              </a:rPr>
              <a:t>코드</a:t>
            </a:r>
            <a:r>
              <a:rPr lang="en-US" altLang="ko-KR" sz="2400" b="1" kern="0" dirty="0" smtClean="0">
                <a:latin typeface="맑은 고딕" pitchFamily="50" charset="-127"/>
                <a:ea typeface="맑은 고딕" pitchFamily="50" charset="-127"/>
              </a:rPr>
              <a:t> (3/3)</a:t>
            </a:r>
            <a:endParaRPr kumimoji="0" lang="en-US" altLang="ko-KR" sz="2400" b="1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623525" lvl="1" indent="-342000" eaLnBrk="0" hangingPunct="0">
              <a:spcAft>
                <a:spcPct val="40000"/>
              </a:spcAft>
              <a:buFont typeface="Wingdings" pitchFamily="2" charset="2"/>
              <a:buChar char="ü"/>
              <a:defRPr/>
            </a:pPr>
            <a:endParaRPr lang="en-US" altLang="ko-KR" sz="1800" kern="0" dirty="0" smtClean="0"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1606" y="1828799"/>
            <a:ext cx="5919686" cy="43634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2947" name="Picture 3" descr="C:\#Ucloud\안드로이드 집필\$2차완성\10장그림(0229)\10-18#.bm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25794" y="1235292"/>
            <a:ext cx="2293347" cy="2014803"/>
          </a:xfrm>
          <a:prstGeom prst="rect">
            <a:avLst/>
          </a:prstGeom>
          <a:noFill/>
        </p:spPr>
      </p:pic>
      <p:pic>
        <p:nvPicPr>
          <p:cNvPr id="82948" name="Picture 4" descr="C:\#Ucloud\안드로이드 집필\$2차완성\10장그림(0229)\10-19#.bmp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83680" y="3792354"/>
            <a:ext cx="2293348" cy="280865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ndarddesign">
  <a:themeElements>
    <a:clrScheme name="Standarddesign 1">
      <a:dk1>
        <a:srgbClr val="000000"/>
      </a:dk1>
      <a:lt1>
        <a:srgbClr val="FFFFFF"/>
      </a:lt1>
      <a:dk2>
        <a:srgbClr val="4C7013"/>
      </a:dk2>
      <a:lt2>
        <a:srgbClr val="0061B2"/>
      </a:lt2>
      <a:accent1>
        <a:srgbClr val="FEA501"/>
      </a:accent1>
      <a:accent2>
        <a:srgbClr val="C8A058"/>
      </a:accent2>
      <a:accent3>
        <a:srgbClr val="FFFFFF"/>
      </a:accent3>
      <a:accent4>
        <a:srgbClr val="000000"/>
      </a:accent4>
      <a:accent5>
        <a:srgbClr val="FECFAA"/>
      </a:accent5>
      <a:accent6>
        <a:srgbClr val="B5914F"/>
      </a:accent6>
      <a:hlink>
        <a:srgbClr val="C40505"/>
      </a:hlink>
      <a:folHlink>
        <a:srgbClr val="919191"/>
      </a:folHlink>
    </a:clrScheme>
    <a:fontScheme name="Standard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4C7013"/>
        </a:dk2>
        <a:lt2>
          <a:srgbClr val="0061B2"/>
        </a:lt2>
        <a:accent1>
          <a:srgbClr val="FEA501"/>
        </a:accent1>
        <a:accent2>
          <a:srgbClr val="C8A058"/>
        </a:accent2>
        <a:accent3>
          <a:srgbClr val="FFFFFF"/>
        </a:accent3>
        <a:accent4>
          <a:srgbClr val="000000"/>
        </a:accent4>
        <a:accent5>
          <a:srgbClr val="FECFAA"/>
        </a:accent5>
        <a:accent6>
          <a:srgbClr val="B5914F"/>
        </a:accent6>
        <a:hlink>
          <a:srgbClr val="C40505"/>
        </a:hlink>
        <a:folHlink>
          <a:srgbClr val="919191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5262</TotalTime>
  <Words>141</Words>
  <Application>Microsoft Office PowerPoint</Application>
  <PresentationFormat>화면 슬라이드 쇼(4:3)</PresentationFormat>
  <Paragraphs>25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4" baseType="lpstr">
      <vt:lpstr>HY견고딕</vt:lpstr>
      <vt:lpstr>굴림</vt:lpstr>
      <vt:lpstr>맑은 고딕</vt:lpstr>
      <vt:lpstr>Arial</vt:lpstr>
      <vt:lpstr>Verdana</vt:lpstr>
      <vt:lpstr>Wingdings</vt:lpstr>
      <vt:lpstr>Wingdings 2</vt:lpstr>
      <vt:lpstr>Standarddesign</vt:lpstr>
      <vt:lpstr>2. 액티비티와 인텐트 응용 ▶ 암시적 인텐트</vt:lpstr>
      <vt:lpstr>2. 액티비티와 인텐트 응용 ▶ 암시적 인텐트</vt:lpstr>
      <vt:lpstr>2. 액티비티와 인텐트 응용 ▶ 암시적 인텐트</vt:lpstr>
      <vt:lpstr>2. 액티비티와 인텐트 응용 ▶ 암시적 인텐트</vt:lpstr>
      <vt:lpstr>2. 액티비티와 인텐트 응용 ▶ 암시적 인텐트</vt:lpstr>
      <vt:lpstr>2. 액티비티와 인텐트 응용 ▶ 암시적 인텐트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sh</dc:creator>
  <cp:lastModifiedBy>백 건효</cp:lastModifiedBy>
  <cp:revision>453</cp:revision>
  <dcterms:created xsi:type="dcterms:W3CDTF">2007-11-27T23:54:21Z</dcterms:created>
  <dcterms:modified xsi:type="dcterms:W3CDTF">2020-04-01T05:44:44Z</dcterms:modified>
</cp:coreProperties>
</file>