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8"/>
  </p:notesMasterIdLst>
  <p:handoutMasterIdLst>
    <p:handoutMasterId r:id="rId9"/>
  </p:handoutMasterIdLst>
  <p:sldIdLst>
    <p:sldId id="707" r:id="rId2"/>
    <p:sldId id="710" r:id="rId3"/>
    <p:sldId id="709" r:id="rId4"/>
    <p:sldId id="713" r:id="rId5"/>
    <p:sldId id="714" r:id="rId6"/>
    <p:sldId id="715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22">
          <p15:clr>
            <a:srgbClr val="A4A3A4"/>
          </p15:clr>
        </p15:guide>
        <p15:guide id="2" pos="2882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6" autoAdjust="0"/>
    <p:restoredTop sz="94600" autoAdjust="0"/>
  </p:normalViewPr>
  <p:slideViewPr>
    <p:cSldViewPr snapToGrid="0">
      <p:cViewPr varScale="1">
        <p:scale>
          <a:sx n="104" d="100"/>
          <a:sy n="104" d="100"/>
        </p:scale>
        <p:origin x="294" y="102"/>
      </p:cViewPr>
      <p:guideLst>
        <p:guide orient="horz" pos="2222"/>
        <p:guide pos="28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2"/>
    </p:cViewPr>
  </p:sorterViewPr>
  <p:notesViewPr>
    <p:cSldViewPr snapToGrid="0">
      <p:cViewPr varScale="1">
        <p:scale>
          <a:sx n="95" d="100"/>
          <a:sy n="95" d="100"/>
        </p:scale>
        <p:origin x="-40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fld id="{44B68EE0-4410-487B-8EF2-AB4C8DC9B5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pPr>
              <a:defRPr/>
            </a:pPr>
            <a:fld id="{81967304-A513-47CF-AA1B-1F2A36BB6376}" type="slidenum">
              <a:rPr lang="de-DE" altLang="ko-KR"/>
              <a:pPr>
                <a:defRPr/>
              </a:pPr>
              <a:t>‹#›</a:t>
            </a:fld>
            <a:endParaRPr lang="de-DE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1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2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3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4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5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6</a:t>
            </a:fld>
            <a:endParaRPr lang="de-DE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pic>
        <p:nvPicPr>
          <p:cNvPr id="3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8" y="330200"/>
            <a:ext cx="1216025" cy="32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403350" y="330200"/>
            <a:ext cx="7186613" cy="3698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altLang="ko-KR" sz="1800" dirty="0" smtClean="0">
                <a:latin typeface="HY견고딕" pitchFamily="18" charset="-127"/>
                <a:ea typeface="HY견고딕" pitchFamily="18" charset="-127"/>
              </a:rPr>
              <a:t>IT CookBook, </a:t>
            </a:r>
            <a:r>
              <a:rPr lang="ko-KR" altLang="en-US" sz="1800" dirty="0" smtClean="0">
                <a:latin typeface="HY견고딕" pitchFamily="18" charset="-127"/>
                <a:ea typeface="HY견고딕" pitchFamily="18" charset="-127"/>
              </a:rPr>
              <a:t>안드로이드 프로그래밍</a:t>
            </a:r>
            <a:endParaRPr lang="de-DE" altLang="ko-KR" sz="1200" dirty="0" smtClean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8263" y="1973263"/>
            <a:ext cx="9167812" cy="2524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>
              <a:defRPr/>
            </a:pPr>
            <a:endParaRPr lang="en-US" altLang="ko-KR" sz="1400" b="1" dirty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>
              <a:buFont typeface="Arial" pitchFamily="34" charset="0"/>
              <a:buNone/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cs typeface="+mn-cs"/>
              </a:rPr>
              <a:t>본 강의교안은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수업상황을 도입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-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전개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-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마무리로 구분하여 수업의 각 단계에서 필요한 요소 중 강의교안으로 커버할 수 있는 영역을 기준으로 작성되었습니다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</a:p>
          <a:p>
            <a:pPr>
              <a:buFont typeface="Arial" pitchFamily="34" charset="0"/>
              <a:buNone/>
              <a:defRPr/>
            </a:pP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도입 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: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수업준비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전시학습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동기유발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학습목표</a:t>
            </a: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전개 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: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학습안내제공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정보제시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연습기회제공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수행유도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중간점검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피드백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)</a:t>
            </a: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마무리 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: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정리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형성평가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다음 </a:t>
            </a:r>
            <a:r>
              <a:rPr lang="ko-KR" altLang="en-US" sz="1000" dirty="0" err="1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차시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 안내</a:t>
            </a: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lvl="1">
              <a:defRPr/>
            </a:pP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lvl="1">
              <a:defRPr/>
            </a:pP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  <a:cs typeface="+mn-cs"/>
              </a:rPr>
              <a:t>[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  <a:cs typeface="+mn-cs"/>
              </a:rPr>
              <a:t>강의교안 이용 안내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  <a:cs typeface="+mn-cs"/>
              </a:rPr>
              <a:t>]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cs typeface="+mn-cs"/>
              </a:rPr>
              <a:t>본 강의교안의 저작권은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cs typeface="+mn-cs"/>
              </a:rPr>
              <a:t>한빛미디어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cs typeface="+mn-cs"/>
              </a:rPr>
              <a:t>㈜에 있습니다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이 자료를 무단으로 전제하거나 배포할 경우 저작권법 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136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조에 의거하여 최고 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년 이하의 징역 또는 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000" u="sng" dirty="0" err="1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천만원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 이하의 벌금에 처할 수 있고 이를 병과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倂科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)</a:t>
            </a:r>
          </a:p>
          <a:p>
            <a:pPr>
              <a:buFont typeface="Arial" pitchFamily="34" charset="0"/>
              <a:buNone/>
              <a:defRPr/>
            </a:pP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    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할 수도 있습니다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</a:p>
          <a:p>
            <a:pPr>
              <a:defRPr/>
            </a:pPr>
            <a:endParaRPr lang="ko-KR" altLang="en-US" sz="1000" dirty="0"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2" descr="hanbitmedia logo_RGB_72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50125" y="6303963"/>
            <a:ext cx="17272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7"/>
          <p:cNvSpPr txBox="1">
            <a:spLocks noChangeArrowheads="1"/>
          </p:cNvSpPr>
          <p:nvPr userDrawn="1"/>
        </p:nvSpPr>
        <p:spPr bwMode="auto">
          <a:xfrm>
            <a:off x="2176463" y="3205163"/>
            <a:ext cx="7186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altLang="ko-KR" sz="1800" dirty="0" smtClean="0">
                <a:solidFill>
                  <a:srgbClr val="BFBFBF"/>
                </a:solidFill>
                <a:latin typeface="HY견고딕" pitchFamily="18" charset="-127"/>
                <a:ea typeface="HY견고딕" pitchFamily="18" charset="-127"/>
              </a:rPr>
              <a:t>IT CookBook, </a:t>
            </a:r>
            <a:r>
              <a:rPr lang="ko-KR" altLang="en-US" sz="1800" dirty="0" smtClean="0">
                <a:solidFill>
                  <a:srgbClr val="BFBFBF"/>
                </a:solidFill>
                <a:latin typeface="HY견고딕" pitchFamily="18" charset="-127"/>
                <a:ea typeface="HY견고딕" pitchFamily="18" charset="-127"/>
              </a:rPr>
              <a:t>안드로이드 프로그래밍</a:t>
            </a:r>
            <a:endParaRPr lang="de-DE" altLang="ko-KR" sz="1200" dirty="0" smtClean="0">
              <a:solidFill>
                <a:srgbClr val="BFBFBF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11162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06292" y="901031"/>
            <a:ext cx="7485063" cy="1081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lnSpc>
                <a:spcPct val="110000"/>
              </a:lnSpc>
              <a:defRPr sz="3200" b="0">
                <a:latin typeface="HY견고딕" pitchFamily="18" charset="-127"/>
                <a:ea typeface="HY견고딕" pitchFamily="18" charset="-127"/>
              </a:defRPr>
            </a:lvl1pPr>
          </a:lstStyle>
          <a:p>
            <a:pPr lvl="0"/>
            <a:r>
              <a:rPr lang="ko-KR" altLang="en-US" noProof="0" dirty="0" smtClean="0"/>
              <a:t>마스터 제목 스타일 편집</a:t>
            </a:r>
            <a:endParaRPr lang="de-DE" noProof="0" dirty="0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58750" y="242888"/>
            <a:ext cx="8516938" cy="5222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dirty="0" smtClean="0">
                <a:latin typeface="HY견고딕" pitchFamily="18" charset="-127"/>
                <a:ea typeface="HY견고딕" pitchFamily="18" charset="-127"/>
              </a:rPr>
              <a:t>학습목표</a:t>
            </a:r>
          </a:p>
        </p:txBody>
      </p:sp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3200" y="684213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7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9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10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8" name="Picture 195" descr="Untitled-4 cop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직사각형 13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975" indent="-180975">
              <a:buFont typeface="Arial" pitchFamily="34" charset="0"/>
              <a:buChar char="•"/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/>
          <p:cNvSpPr txBox="1">
            <a:spLocks noChangeArrowheads="1"/>
          </p:cNvSpPr>
          <p:nvPr userDrawn="1"/>
        </p:nvSpPr>
        <p:spPr bwMode="auto">
          <a:xfrm>
            <a:off x="158750" y="252413"/>
            <a:ext cx="8516938" cy="5222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dirty="0" smtClean="0">
                <a:latin typeface="HY견고딕" pitchFamily="18" charset="-127"/>
                <a:ea typeface="HY견고딕" pitchFamily="18" charset="-127"/>
              </a:rPr>
              <a:t>차례</a:t>
            </a:r>
          </a:p>
        </p:txBody>
      </p:sp>
      <p:pic>
        <p:nvPicPr>
          <p:cNvPr id="3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3200" y="684213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5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7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8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6" name="Picture 195" descr="Untitled-4 cop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직사각형 13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0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3200" y="684213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6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8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9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7" name="Picture 195" descr="Untitled-4 cop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직사각형 12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1" name="직사각형 13"/>
          <p:cNvSpPr>
            <a:spLocks noChangeArrowheads="1"/>
          </p:cNvSpPr>
          <p:nvPr userDrawn="1"/>
        </p:nvSpPr>
        <p:spPr bwMode="auto">
          <a:xfrm>
            <a:off x="152400" y="152400"/>
            <a:ext cx="89916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0038" y="330614"/>
            <a:ext cx="8520112" cy="647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2800" b="0">
                <a:latin typeface="HY견고딕" pitchFamily="18" charset="-127"/>
                <a:ea typeface="HY견고딕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975" indent="-180975">
              <a:buFont typeface="Arial" pitchFamily="34" charset="0"/>
              <a:buChar char="•"/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">
    <p:bg>
      <p:bgPr>
        <a:gradFill>
          <a:gsLst>
            <a:gs pos="0">
              <a:schemeClr val="accent1">
                <a:lumMod val="10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58750" y="266700"/>
            <a:ext cx="8516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smtClean="0">
                <a:latin typeface="HY견고딕" pitchFamily="18" charset="-127"/>
                <a:ea typeface="HY견고딕" pitchFamily="18" charset="-127"/>
                <a:sym typeface="Wingdings 2" pitchFamily="18" charset="2"/>
              </a:rPr>
              <a:t> </a:t>
            </a:r>
            <a:r>
              <a:rPr lang="en-US" altLang="ko-KR" sz="2800" i="1" smtClean="0">
                <a:latin typeface="HY견고딕" pitchFamily="18" charset="-127"/>
                <a:ea typeface="HY견고딕" pitchFamily="18" charset="-127"/>
                <a:sym typeface="Wingdings 2" pitchFamily="18" charset="2"/>
              </a:rPr>
              <a:t>check</a:t>
            </a:r>
            <a:endParaRPr lang="ko-KR" altLang="en-US" sz="2800" smtClean="0"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5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6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8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9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7" name="Picture 195" descr="Untitled-4 copy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975" indent="-180975">
              <a:buFont typeface="Arial" pitchFamily="34" charset="0"/>
              <a:buChar char="•"/>
              <a:defRPr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핵심정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58750" y="266700"/>
            <a:ext cx="8516938" cy="523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dirty="0" smtClean="0">
                <a:latin typeface="HY견고딕" pitchFamily="18" charset="-127"/>
                <a:ea typeface="HY견고딕" pitchFamily="18" charset="-127"/>
              </a:rPr>
              <a:t>핵심정리</a:t>
            </a:r>
          </a:p>
        </p:txBody>
      </p:sp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3200" y="684213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7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9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10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8" name="Picture 195" descr="Untitled-4 cop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직사각형 13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975" indent="-180975">
              <a:buFont typeface="Arial" pitchFamily="34" charset="0"/>
              <a:buChar char="•"/>
              <a:defRPr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끝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2" descr="hanbitmedia logo_RGB_72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50125" y="6303963"/>
            <a:ext cx="17272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WordArt 3"/>
          <p:cNvSpPr>
            <a:spLocks noChangeArrowheads="1" noChangeShapeType="1" noTextEdit="1"/>
          </p:cNvSpPr>
          <p:nvPr userDrawn="1"/>
        </p:nvSpPr>
        <p:spPr bwMode="gray">
          <a:xfrm>
            <a:off x="974435" y="199892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>
              <a:defRPr/>
            </a:pPr>
            <a:r>
              <a:rPr lang="en-US" altLang="ko-KR" sz="5400" b="1" kern="10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Verdana"/>
                <a:cs typeface="+mn-cs"/>
              </a:rPr>
              <a:t>Thank You !</a:t>
            </a:r>
            <a:endParaRPr lang="ko-KR" altLang="en-US" sz="5400" b="1" kern="10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Verdana"/>
              <a:cs typeface="+mn-cs"/>
            </a:endParaRPr>
          </a:p>
        </p:txBody>
      </p:sp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2176463" y="3205163"/>
            <a:ext cx="7186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altLang="ko-KR" sz="1800" dirty="0" smtClean="0">
                <a:solidFill>
                  <a:srgbClr val="BFBFBF"/>
                </a:solidFill>
                <a:latin typeface="HY견고딕" pitchFamily="18" charset="-127"/>
                <a:ea typeface="HY견고딕" pitchFamily="18" charset="-127"/>
              </a:rPr>
              <a:t>IT CookBook, </a:t>
            </a:r>
            <a:r>
              <a:rPr lang="ko-KR" altLang="en-US" sz="1800" dirty="0" smtClean="0">
                <a:solidFill>
                  <a:srgbClr val="BFBFBF"/>
                </a:solidFill>
                <a:latin typeface="HY견고딕" pitchFamily="18" charset="-127"/>
                <a:ea typeface="HY견고딕" pitchFamily="18" charset="-127"/>
              </a:rPr>
              <a:t>안드로이드 프로그래밍</a:t>
            </a:r>
            <a:endParaRPr lang="de-DE" altLang="ko-KR" sz="1200" dirty="0" smtClean="0">
              <a:solidFill>
                <a:srgbClr val="BFBFBF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5275" y="1489075"/>
            <a:ext cx="8524875" cy="431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 smtClean="0"/>
              <a:t>Textmasterformate durch Klicken bearbeiten</a:t>
            </a:r>
          </a:p>
          <a:p>
            <a:pPr lvl="1"/>
            <a:r>
              <a:rPr lang="de-DE" altLang="ko-KR" smtClean="0"/>
              <a:t>Zweite Ebene</a:t>
            </a:r>
          </a:p>
          <a:p>
            <a:pPr lvl="2"/>
            <a:r>
              <a:rPr lang="de-DE" altLang="ko-KR" smtClean="0"/>
              <a:t>Dritte Ebene</a:t>
            </a:r>
          </a:p>
          <a:p>
            <a:pPr lvl="3"/>
            <a:r>
              <a:rPr lang="de-DE" altLang="ko-KR" smtClean="0"/>
              <a:t>Vierte Ebene</a:t>
            </a:r>
          </a:p>
          <a:p>
            <a:pPr lvl="4"/>
            <a:r>
              <a:rPr lang="de-DE" altLang="ko-KR" smtClean="0"/>
              <a:t>Fünfte Ebene</a:t>
            </a:r>
          </a:p>
        </p:txBody>
      </p:sp>
      <p:sp>
        <p:nvSpPr>
          <p:cNvPr id="11059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365875"/>
            <a:ext cx="28956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noProof="1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gray">
          <a:xfrm>
            <a:off x="300038" y="411163"/>
            <a:ext cx="8520112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 smtClean="0"/>
              <a:t>Klicken Sie, um das Titelformat zu bearbeiten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219075" y="6365875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de-DE" altLang="ko-KR" sz="1000">
                <a:ea typeface="굴림" charset="-127"/>
              </a:rPr>
              <a:t>Page </a:t>
            </a:r>
            <a:r>
              <a:rPr lang="de-DE" altLang="ko-KR" sz="1000">
                <a:ea typeface="굴림" charset="-127"/>
                <a:sym typeface="Wingdings" pitchFamily="2" charset="2"/>
              </a:rPr>
              <a:t></a:t>
            </a:r>
            <a:r>
              <a:rPr lang="de-DE" altLang="ko-KR" sz="1000">
                <a:ea typeface="굴림" charset="-127"/>
              </a:rPr>
              <a:t> </a:t>
            </a:r>
            <a:fld id="{86F4A8A0-048C-4620-A43C-923312CDEA00}" type="slidenum">
              <a:rPr lang="de-DE" altLang="ko-KR" sz="1000">
                <a:ea typeface="굴림" charset="-127"/>
              </a:rPr>
              <a:pPr/>
              <a:t>‹#›</a:t>
            </a:fld>
            <a:endParaRPr lang="de-DE" altLang="ko-KR" sz="1000">
              <a:ea typeface="굴림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80975" indent="-180975" algn="l" rtl="0" eaLnBrk="0" fontAlgn="base" hangingPunct="0">
        <a:spcBef>
          <a:spcPct val="0"/>
        </a:spcBef>
        <a:spcAft>
          <a:spcPct val="4000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44500" indent="-261938" algn="l" rtl="0" eaLnBrk="0" fontAlgn="base" hangingPunct="0">
        <a:spcBef>
          <a:spcPct val="0"/>
        </a:spcBef>
        <a:spcAft>
          <a:spcPct val="40000"/>
        </a:spcAft>
        <a:buChar char="–"/>
        <a:defRPr>
          <a:solidFill>
            <a:schemeClr val="tx1"/>
          </a:solidFill>
          <a:latin typeface="+mn-lt"/>
          <a:cs typeface="+mn-cs"/>
        </a:defRPr>
      </a:lvl2pPr>
      <a:lvl3pPr marL="720725" indent="-274638" algn="l" rtl="0" eaLnBrk="0" fontAlgn="base" hangingPunct="0">
        <a:spcBef>
          <a:spcPct val="0"/>
        </a:spcBef>
        <a:spcAft>
          <a:spcPct val="4000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987425" indent="-265113" algn="l" rtl="0" eaLnBrk="0" fontAlgn="base" hangingPunct="0">
        <a:spcBef>
          <a:spcPct val="0"/>
        </a:spcBef>
        <a:spcAft>
          <a:spcPct val="4000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1254125" indent="-265113" algn="l" rtl="0" eaLnBrk="0" fontAlgn="base" hangingPunct="0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5pPr>
      <a:lvl6pPr marL="17113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1685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26257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0829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332012" y="1925053"/>
            <a:ext cx="8524875" cy="4475747"/>
          </a:xfrm>
        </p:spPr>
        <p:txBody>
          <a:bodyPr/>
          <a:lstStyle/>
          <a:p>
            <a:pPr marL="360000" indent="-342000">
              <a:buFont typeface="Wingdings" pitchFamily="2" charset="2"/>
              <a:buChar char="v"/>
            </a:pPr>
            <a:r>
              <a:rPr lang="ko-KR" altLang="en-US" b="1" dirty="0" err="1" smtClean="0"/>
              <a:t>르느와르</a:t>
            </a:r>
            <a:r>
              <a:rPr lang="ko-KR" altLang="en-US" b="1" dirty="0" smtClean="0"/>
              <a:t> 그림에 대한 선호도를 투표하고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결과를 래이팅바로 보여주는 앱을 작성하자</a:t>
            </a:r>
            <a:r>
              <a:rPr lang="en-US" altLang="ko-KR" b="1" dirty="0" smtClean="0"/>
              <a:t>.</a:t>
            </a:r>
          </a:p>
          <a:p>
            <a:pPr marL="360000" indent="-342000">
              <a:buFont typeface="Wingdings" pitchFamily="2" charset="2"/>
              <a:buChar char="v"/>
            </a:pPr>
            <a:endParaRPr lang="en-US" altLang="ko-KR" b="1" dirty="0" smtClean="0"/>
          </a:p>
          <a:p>
            <a:pPr marL="360000" indent="-342000">
              <a:buFont typeface="Wingdings" pitchFamily="2" charset="2"/>
              <a:buChar char="v"/>
            </a:pPr>
            <a:r>
              <a:rPr lang="ko-KR" altLang="en-US" b="1" dirty="0" smtClean="0"/>
              <a:t>프로젝트 정보</a:t>
            </a:r>
            <a:endParaRPr lang="en-US" altLang="ko-KR" b="1" dirty="0" smtClean="0"/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프로젝트 이름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: Project10_2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패키지 이름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: com.cookandroid.project10_2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400" dirty="0" err="1" smtClean="0">
                <a:latin typeface="맑은 고딕" pitchFamily="50" charset="-127"/>
                <a:ea typeface="맑은 고딕" pitchFamily="50" charset="-127"/>
              </a:rPr>
              <a:t>빌드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SDK : </a:t>
            </a:r>
            <a:r>
              <a:rPr lang="en-US" altLang="ko-KR" sz="1400" dirty="0" err="1" smtClean="0">
                <a:latin typeface="맑은 고딕" pitchFamily="50" charset="-127"/>
                <a:ea typeface="맑은 고딕" pitchFamily="50" charset="-127"/>
              </a:rPr>
              <a:t>Goolge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 API 15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16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Minimum Required SDK : API 15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16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액티비티이름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: Project10_2Activity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레이아웃 이름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: main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타이틀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: Project10_2</a:t>
            </a:r>
          </a:p>
        </p:txBody>
      </p:sp>
      <p:pic>
        <p:nvPicPr>
          <p:cNvPr id="2050" name="Picture 2" descr="C:\#Ucloud\안드로이드 집필\$2차완성\10장그림(0229)\10-06#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71393" y="2849314"/>
            <a:ext cx="4624482" cy="3147226"/>
          </a:xfrm>
          <a:prstGeom prst="rect">
            <a:avLst/>
          </a:prstGeom>
          <a:noFill/>
        </p:spPr>
      </p:pic>
      <p:sp>
        <p:nvSpPr>
          <p:cNvPr id="4" name="제목 1"/>
          <p:cNvSpPr txBox="1">
            <a:spLocks/>
          </p:cNvSpPr>
          <p:nvPr/>
        </p:nvSpPr>
        <p:spPr bwMode="gray">
          <a:xfrm>
            <a:off x="609600" y="1252539"/>
            <a:ext cx="7845552" cy="478726"/>
          </a:xfrm>
          <a:prstGeom prst="rect">
            <a:avLst/>
          </a:prstGeom>
          <a:gradFill rotWithShape="1">
            <a:gsLst>
              <a:gs pos="0">
                <a:srgbClr val="A07400"/>
              </a:gs>
              <a:gs pos="50000">
                <a:srgbClr val="E6A900"/>
              </a:gs>
              <a:gs pos="100000">
                <a:srgbClr val="FFCA00"/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90000"/>
              </a:lnSpc>
              <a:defRPr/>
            </a:pPr>
            <a:r>
              <a:rPr kumimoji="0" lang="en-US" altLang="ko-KR" sz="24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[</a:t>
            </a:r>
            <a:r>
              <a:rPr kumimoji="0" lang="ko-KR" altLang="en-US" sz="24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실습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  <a:cs typeface="+mj-cs"/>
              </a:rPr>
              <a:t>10-2</a:t>
            </a:r>
            <a:r>
              <a:rPr kumimoji="0" lang="en-US" altLang="ko-KR" sz="24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]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  <a:cs typeface="+mj-cs"/>
              </a:rPr>
              <a:t>명화 선호도 투표 앱 만들기 </a:t>
            </a:r>
            <a:r>
              <a:rPr kumimoji="0" lang="en-US" altLang="ko-KR" sz="24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(1/9)</a:t>
            </a:r>
            <a:endParaRPr kumimoji="0" lang="ko-KR" altLang="en-US" sz="2400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pic>
        <p:nvPicPr>
          <p:cNvPr id="1027" name="Picture 3" descr="C:\#Ucloud\안드로이드 집필\$4차수정\그림 1,2장\jellybea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5448" y="1134559"/>
            <a:ext cx="454152" cy="720530"/>
          </a:xfrm>
          <a:prstGeom prst="rect">
            <a:avLst/>
          </a:prstGeom>
          <a:noFill/>
        </p:spPr>
      </p:pic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액티비티와 인텐트 기본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332013" y="1925053"/>
            <a:ext cx="4201486" cy="4475747"/>
          </a:xfrm>
        </p:spPr>
        <p:txBody>
          <a:bodyPr/>
          <a:lstStyle/>
          <a:p>
            <a:pPr marL="360000" indent="-342000">
              <a:buFont typeface="Wingdings" pitchFamily="2" charset="2"/>
              <a:buChar char="v"/>
            </a:pPr>
            <a:r>
              <a:rPr lang="ko-KR" altLang="en-US" b="1" dirty="0" smtClean="0"/>
              <a:t>화면 디자인 </a:t>
            </a:r>
            <a:r>
              <a:rPr lang="en-US" altLang="ko-KR" b="1" dirty="0" smtClean="0"/>
              <a:t>2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result.xml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을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/res/layout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폴더에 생성하고 다음과 같이 설정한다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바깥은 테이블레이아웃으로 설정하고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400" dirty="0" err="1" smtClean="0">
                <a:latin typeface="맑은 고딕" pitchFamily="50" charset="-127"/>
                <a:ea typeface="맑은 고딕" pitchFamily="50" charset="-127"/>
              </a:rPr>
              <a:t>stretchColumns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속성을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0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으로 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en-US" altLang="ko-KR" sz="1400" dirty="0" err="1" smtClean="0">
                <a:latin typeface="맑은 고딕" pitchFamily="50" charset="-127"/>
                <a:ea typeface="맑은 고딕" pitchFamily="50" charset="-127"/>
              </a:rPr>
              <a:t>TableRow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&gt;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를 그림의 숫자와 동일한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+1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개로 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각 테이블 </a:t>
            </a:r>
            <a:r>
              <a:rPr lang="ko-KR" altLang="en-US" sz="1400" dirty="0" err="1" smtClean="0">
                <a:latin typeface="맑은 고딕" pitchFamily="50" charset="-127"/>
                <a:ea typeface="맑은 고딕" pitchFamily="50" charset="-127"/>
              </a:rPr>
              <a:t>로우에는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 텍스트뷰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래이팅바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개를 생성한다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마지막 테이블 </a:t>
            </a:r>
            <a:r>
              <a:rPr lang="ko-KR" altLang="en-US" sz="1400" dirty="0" err="1" smtClean="0">
                <a:latin typeface="맑은 고딕" pitchFamily="50" charset="-127"/>
                <a:ea typeface="맑은 고딕" pitchFamily="50" charset="-127"/>
              </a:rPr>
              <a:t>로우에는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돌아가기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&gt;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를 생성한다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텍스트뷰의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id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tv1~tv9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로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래이팅바의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id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rbar1~rbar9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로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버튼의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id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en-US" altLang="ko-KR" sz="1400" dirty="0" err="1" smtClean="0">
                <a:latin typeface="맑은 고딕" pitchFamily="50" charset="-127"/>
                <a:ea typeface="맑은 고딕" pitchFamily="50" charset="-127"/>
              </a:rPr>
              <a:t>btnReturn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으로 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600" b="1" dirty="0" smtClean="0"/>
          </a:p>
        </p:txBody>
      </p:sp>
      <p:sp>
        <p:nvSpPr>
          <p:cNvPr id="4" name="제목 1"/>
          <p:cNvSpPr txBox="1">
            <a:spLocks/>
          </p:cNvSpPr>
          <p:nvPr/>
        </p:nvSpPr>
        <p:spPr bwMode="gray">
          <a:xfrm>
            <a:off x="609600" y="1252539"/>
            <a:ext cx="7845552" cy="478726"/>
          </a:xfrm>
          <a:prstGeom prst="rect">
            <a:avLst/>
          </a:prstGeom>
          <a:gradFill rotWithShape="1">
            <a:gsLst>
              <a:gs pos="0">
                <a:srgbClr val="A07400"/>
              </a:gs>
              <a:gs pos="50000">
                <a:srgbClr val="E6A900"/>
              </a:gs>
              <a:gs pos="100000">
                <a:srgbClr val="FFCA00"/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90000"/>
              </a:lnSpc>
              <a:defRPr/>
            </a:pP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실습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10-2]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명화 선호도 투표 앱 만들기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(3/9)</a:t>
            </a:r>
            <a:endParaRPr lang="ko-KR" altLang="en-US" sz="2400" kern="0" dirty="0" smtClean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7" name="Picture 3" descr="C:\#Ucloud\안드로이드 집필\$4차수정\그림 1,2장\jellybea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448" y="1134559"/>
            <a:ext cx="454152" cy="720530"/>
          </a:xfrm>
          <a:prstGeom prst="rect">
            <a:avLst/>
          </a:prstGeom>
          <a:noFill/>
        </p:spPr>
      </p:pic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액티비티와 인텐트 기본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52751" y="1736744"/>
            <a:ext cx="4552749" cy="51020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099" name="Picture 3" descr="C:\#Ucloud\안드로이드 집필\$2차완성\10장그림(0229)\10-08.bmp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38322" y="28875"/>
            <a:ext cx="1557553" cy="2229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332012" y="1925053"/>
            <a:ext cx="8524875" cy="4475747"/>
          </a:xfrm>
        </p:spPr>
        <p:txBody>
          <a:bodyPr/>
          <a:lstStyle/>
          <a:p>
            <a:pPr marL="360000" indent="-342000">
              <a:buFont typeface="Wingdings" pitchFamily="2" charset="2"/>
              <a:buChar char="v"/>
            </a:pPr>
            <a:r>
              <a:rPr lang="en-US" altLang="ko-KR" b="1" dirty="0" smtClean="0"/>
              <a:t>Java </a:t>
            </a:r>
            <a:r>
              <a:rPr lang="ko-KR" altLang="en-US" b="1" dirty="0" smtClean="0"/>
              <a:t>코딩 </a:t>
            </a:r>
            <a:r>
              <a:rPr lang="en-US" altLang="ko-KR" b="1" dirty="0" smtClean="0"/>
              <a:t>1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새로운 액티비티인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ResultActivity.java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파일을 만들고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, onCreate( )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메소드를 추가한 후 </a:t>
            </a:r>
            <a:r>
              <a:rPr lang="en-US" altLang="ko-KR" sz="1600" dirty="0" err="1" smtClean="0">
                <a:latin typeface="맑은 고딕" pitchFamily="50" charset="-127"/>
                <a:ea typeface="맑은 고딕" pitchFamily="50" charset="-127"/>
              </a:rPr>
              <a:t>setContentView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600" dirty="0" err="1" smtClean="0">
                <a:latin typeface="맑은 고딕" pitchFamily="50" charset="-127"/>
                <a:ea typeface="맑은 고딕" pitchFamily="50" charset="-127"/>
              </a:rPr>
              <a:t>R.layout.result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를 추가한다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AndroidManifest.xml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에 등록한다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360000" indent="-342000">
              <a:buFont typeface="Wingdings" pitchFamily="2" charset="2"/>
              <a:buChar char="v"/>
            </a:pPr>
            <a:endParaRPr lang="en-US" altLang="ko-KR" b="1" dirty="0" smtClean="0"/>
          </a:p>
        </p:txBody>
      </p:sp>
      <p:sp>
        <p:nvSpPr>
          <p:cNvPr id="4" name="제목 1"/>
          <p:cNvSpPr txBox="1">
            <a:spLocks/>
          </p:cNvSpPr>
          <p:nvPr/>
        </p:nvSpPr>
        <p:spPr bwMode="gray">
          <a:xfrm>
            <a:off x="609600" y="1252539"/>
            <a:ext cx="7845552" cy="478726"/>
          </a:xfrm>
          <a:prstGeom prst="rect">
            <a:avLst/>
          </a:prstGeom>
          <a:gradFill rotWithShape="1">
            <a:gsLst>
              <a:gs pos="0">
                <a:srgbClr val="A07400"/>
              </a:gs>
              <a:gs pos="50000">
                <a:srgbClr val="E6A900"/>
              </a:gs>
              <a:gs pos="100000">
                <a:srgbClr val="FFCA00"/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90000"/>
              </a:lnSpc>
              <a:defRPr/>
            </a:pP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실습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10-2]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명화 선호도 투표 앱 만들기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(4/9)</a:t>
            </a:r>
            <a:endParaRPr lang="ko-KR" altLang="en-US" sz="2400" kern="0" dirty="0" smtClean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7" name="Picture 3" descr="C:\#Ucloud\안드로이드 집필\$4차수정\그림 1,2장\jellybea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448" y="1134559"/>
            <a:ext cx="454152" cy="720530"/>
          </a:xfrm>
          <a:prstGeom prst="rect">
            <a:avLst/>
          </a:prstGeom>
          <a:noFill/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액티비티와 인텐트 기본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332011" y="1925053"/>
            <a:ext cx="8484730" cy="4475747"/>
          </a:xfrm>
        </p:spPr>
        <p:txBody>
          <a:bodyPr/>
          <a:lstStyle/>
          <a:p>
            <a:pPr marL="360000" indent="-342000">
              <a:buFont typeface="Wingdings" pitchFamily="2" charset="2"/>
              <a:buChar char="v"/>
            </a:pPr>
            <a:r>
              <a:rPr lang="en-US" altLang="ko-KR" b="1" dirty="0" smtClean="0"/>
              <a:t>Java </a:t>
            </a:r>
            <a:r>
              <a:rPr lang="ko-KR" altLang="en-US" b="1" dirty="0" smtClean="0"/>
              <a:t>코딩 </a:t>
            </a:r>
            <a:r>
              <a:rPr lang="en-US" altLang="ko-KR" b="1" dirty="0" smtClean="0"/>
              <a:t>4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투표 종료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&gt;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에 대해서 클릭 이벤트 리스너를 생성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인텐트를 생성하고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인텐트에 투표수 배열과 그림 이름 배열을 넣은 후에 결과 액티비티를 호출</a:t>
            </a:r>
            <a:endParaRPr lang="en-US" altLang="ko-KR" b="1" dirty="0" smtClean="0"/>
          </a:p>
        </p:txBody>
      </p:sp>
      <p:sp>
        <p:nvSpPr>
          <p:cNvPr id="4" name="제목 1"/>
          <p:cNvSpPr txBox="1">
            <a:spLocks/>
          </p:cNvSpPr>
          <p:nvPr/>
        </p:nvSpPr>
        <p:spPr bwMode="gray">
          <a:xfrm>
            <a:off x="609600" y="1252539"/>
            <a:ext cx="7845552" cy="478726"/>
          </a:xfrm>
          <a:prstGeom prst="rect">
            <a:avLst/>
          </a:prstGeom>
          <a:gradFill rotWithShape="1">
            <a:gsLst>
              <a:gs pos="0">
                <a:srgbClr val="A07400"/>
              </a:gs>
              <a:gs pos="50000">
                <a:srgbClr val="E6A900"/>
              </a:gs>
              <a:gs pos="100000">
                <a:srgbClr val="FFCA00"/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90000"/>
              </a:lnSpc>
              <a:defRPr/>
            </a:pP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실습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10-2]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명화 선호도 투표 앱 만들기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(7/9)</a:t>
            </a:r>
            <a:endParaRPr lang="ko-KR" altLang="en-US" sz="2400" kern="0" dirty="0" smtClean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7" name="Picture 3" descr="C:\#Ucloud\안드로이드 집필\$4차수정\그림 1,2장\jellybea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448" y="1134559"/>
            <a:ext cx="454152" cy="720530"/>
          </a:xfrm>
          <a:prstGeom prst="rect">
            <a:avLst/>
          </a:prstGeom>
          <a:noFill/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액티비티와 인텐트 기본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2515" y="3128111"/>
            <a:ext cx="6370637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332011" y="1925053"/>
            <a:ext cx="8484730" cy="4475747"/>
          </a:xfrm>
        </p:spPr>
        <p:txBody>
          <a:bodyPr/>
          <a:lstStyle/>
          <a:p>
            <a:pPr marL="360000" indent="-342000">
              <a:buFont typeface="Wingdings" pitchFamily="2" charset="2"/>
              <a:buChar char="v"/>
            </a:pPr>
            <a:r>
              <a:rPr lang="en-US" altLang="ko-KR" b="1" dirty="0" smtClean="0"/>
              <a:t>Java </a:t>
            </a:r>
            <a:r>
              <a:rPr lang="ko-KR" altLang="en-US" b="1" dirty="0" smtClean="0"/>
              <a:t>코딩 </a:t>
            </a:r>
            <a:r>
              <a:rPr lang="en-US" altLang="ko-KR" b="1" dirty="0" smtClean="0"/>
              <a:t>5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서브 액티비티인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ResultActivity.java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파일의 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onCreate( ) </a:t>
            </a: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메소드 안을 코딩</a:t>
            </a:r>
            <a:r>
              <a:rPr lang="en-US" altLang="ko-KR" sz="1600" dirty="0" smtClean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메인 액티비티에서 보낸 인텐트를 받고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넘겨 받은 투표 결과 배열과 그림 이름 배열을 저장</a:t>
            </a:r>
            <a:endParaRPr lang="en-US" altLang="ko-KR" b="1" dirty="0" smtClean="0"/>
          </a:p>
        </p:txBody>
      </p:sp>
      <p:sp>
        <p:nvSpPr>
          <p:cNvPr id="4" name="제목 1"/>
          <p:cNvSpPr txBox="1">
            <a:spLocks/>
          </p:cNvSpPr>
          <p:nvPr/>
        </p:nvSpPr>
        <p:spPr bwMode="gray">
          <a:xfrm>
            <a:off x="609600" y="1252539"/>
            <a:ext cx="7845552" cy="478726"/>
          </a:xfrm>
          <a:prstGeom prst="rect">
            <a:avLst/>
          </a:prstGeom>
          <a:gradFill rotWithShape="1">
            <a:gsLst>
              <a:gs pos="0">
                <a:srgbClr val="A07400"/>
              </a:gs>
              <a:gs pos="50000">
                <a:srgbClr val="E6A900"/>
              </a:gs>
              <a:gs pos="100000">
                <a:srgbClr val="FFCA00"/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90000"/>
              </a:lnSpc>
              <a:defRPr/>
            </a:pP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실습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10-2]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명화 선호도 투표 앱 만들기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(8/9)</a:t>
            </a:r>
            <a:endParaRPr lang="ko-KR" altLang="en-US" sz="2400" kern="0" dirty="0" smtClean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7" name="Picture 3" descr="C:\#Ucloud\안드로이드 집필\$4차수정\그림 1,2장\jellybea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448" y="1134559"/>
            <a:ext cx="454152" cy="720530"/>
          </a:xfrm>
          <a:prstGeom prst="rect">
            <a:avLst/>
          </a:prstGeom>
          <a:noFill/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액티비티와 인텐트 기본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2181" y="3038025"/>
            <a:ext cx="6723063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332011" y="1925053"/>
            <a:ext cx="3633597" cy="4475747"/>
          </a:xfrm>
        </p:spPr>
        <p:txBody>
          <a:bodyPr/>
          <a:lstStyle/>
          <a:p>
            <a:pPr marL="360000" indent="-342000">
              <a:buFont typeface="Wingdings" pitchFamily="2" charset="2"/>
              <a:buChar char="v"/>
            </a:pPr>
            <a:r>
              <a:rPr lang="en-US" altLang="ko-KR" b="1" dirty="0" smtClean="0"/>
              <a:t>Java </a:t>
            </a:r>
            <a:r>
              <a:rPr lang="ko-KR" altLang="en-US" b="1" dirty="0" smtClean="0"/>
              <a:t>코딩 </a:t>
            </a:r>
            <a:r>
              <a:rPr lang="en-US" altLang="ko-KR" b="1" dirty="0" smtClean="0"/>
              <a:t>6</a:t>
            </a:r>
          </a:p>
          <a:p>
            <a:pPr marL="623525" lvl="1" indent="-342000">
              <a:buFont typeface="Wingdings" pitchFamily="2" charset="2"/>
              <a:buChar char="ü"/>
            </a:pPr>
            <a:r>
              <a:rPr lang="ko-KR" altLang="en-US" sz="1600" dirty="0" smtClean="0">
                <a:latin typeface="맑은 고딕" pitchFamily="50" charset="-127"/>
                <a:ea typeface="맑은 고딕" pitchFamily="50" charset="-127"/>
              </a:rPr>
              <a:t>서브 액티비티의 나머지를 코딩</a:t>
            </a:r>
            <a:endParaRPr lang="en-US" altLang="ko-KR" sz="1600" dirty="0" smtClean="0">
              <a:latin typeface="맑은 고딕" pitchFamily="50" charset="-127"/>
              <a:ea typeface="맑은 고딕" pitchFamily="50" charset="-127"/>
            </a:endParaRPr>
          </a:p>
          <a:p>
            <a:pPr marL="899750" lvl="2" indent="-342000">
              <a:buFont typeface="Arial" pitchFamily="34" charset="0"/>
              <a:buChar char="•"/>
            </a:pP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result.xml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의 텍스트뷰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개와 래이팅바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개의 위젯 변수 배열을 선언한다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텍스트뷰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id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를 저장한 배열 변수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래이팅바의 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id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를 저장한 배열 변수를 선언한다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XML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파일의 텍스트뷰 및 래이팅바를 위젯 변수에 대입한다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텍스트뷰 위젯 변수에 넘겨받은 그림 이름을 적용한다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래이팅바에는 넘겨받은 투표 결과를 적용한다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99750" lvl="2" indent="-342000">
              <a:buFont typeface="Arial" pitchFamily="34" charset="0"/>
              <a:buChar char="•"/>
            </a:pPr>
            <a:r>
              <a:rPr lang="ko-KR" altLang="en-US" sz="1400" dirty="0" smtClean="0">
                <a:latin typeface="맑은 고딕" pitchFamily="50" charset="-127"/>
                <a:ea typeface="맑은 고딕" pitchFamily="50" charset="-127"/>
              </a:rPr>
              <a:t>버튼을 클릭하면 서브 액티비티를 종료한다</a:t>
            </a:r>
            <a:r>
              <a:rPr lang="en-US" altLang="ko-KR" sz="1400" dirty="0" smtClean="0">
                <a:latin typeface="맑은 고딕" pitchFamily="50" charset="-127"/>
                <a:ea typeface="맑은 고딕" pitchFamily="50" charset="-127"/>
              </a:rPr>
              <a:t>. </a:t>
            </a:r>
            <a:endParaRPr lang="en-US" altLang="ko-KR" b="1" dirty="0" smtClean="0"/>
          </a:p>
        </p:txBody>
      </p:sp>
      <p:sp>
        <p:nvSpPr>
          <p:cNvPr id="4" name="제목 1"/>
          <p:cNvSpPr txBox="1">
            <a:spLocks/>
          </p:cNvSpPr>
          <p:nvPr/>
        </p:nvSpPr>
        <p:spPr bwMode="gray">
          <a:xfrm>
            <a:off x="609600" y="1252539"/>
            <a:ext cx="7845552" cy="478726"/>
          </a:xfrm>
          <a:prstGeom prst="rect">
            <a:avLst/>
          </a:prstGeom>
          <a:gradFill rotWithShape="1">
            <a:gsLst>
              <a:gs pos="0">
                <a:srgbClr val="A07400"/>
              </a:gs>
              <a:gs pos="50000">
                <a:srgbClr val="E6A900"/>
              </a:gs>
              <a:gs pos="100000">
                <a:srgbClr val="FFCA00"/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실습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10-2] </a:t>
            </a:r>
            <a:r>
              <a:rPr lang="ko-KR" altLang="en-US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명화 선호도 투표 앱 만들기 </a:t>
            </a:r>
            <a:r>
              <a:rPr lang="en-US" altLang="ko-KR" sz="240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(9/9)</a:t>
            </a:r>
            <a:endParaRPr lang="ko-KR" altLang="en-US" sz="2400" kern="0" dirty="0" smtClean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  <a:p>
            <a:pPr lvl="0">
              <a:lnSpc>
                <a:spcPct val="90000"/>
              </a:lnSpc>
              <a:defRPr/>
            </a:pPr>
            <a:endParaRPr lang="ko-KR" altLang="en-US" sz="2400" kern="0" dirty="0" smtClean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27" name="Picture 3" descr="C:\#Ucloud\안드로이드 집필\$4차수정\그림 1,2장\jellybea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448" y="1134559"/>
            <a:ext cx="454152" cy="720530"/>
          </a:xfrm>
          <a:prstGeom prst="rect">
            <a:avLst/>
          </a:prstGeom>
          <a:noFill/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액티비티와 인텐트 기본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14568" y="1707110"/>
            <a:ext cx="5120639" cy="51420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4C7013"/>
      </a:dk2>
      <a:lt2>
        <a:srgbClr val="0061B2"/>
      </a:lt2>
      <a:accent1>
        <a:srgbClr val="FEA501"/>
      </a:accent1>
      <a:accent2>
        <a:srgbClr val="C8A058"/>
      </a:accent2>
      <a:accent3>
        <a:srgbClr val="FFFFFF"/>
      </a:accent3>
      <a:accent4>
        <a:srgbClr val="000000"/>
      </a:accent4>
      <a:accent5>
        <a:srgbClr val="FECFAA"/>
      </a:accent5>
      <a:accent6>
        <a:srgbClr val="B5914F"/>
      </a:accent6>
      <a:hlink>
        <a:srgbClr val="C40505"/>
      </a:hlink>
      <a:folHlink>
        <a:srgbClr val="919191"/>
      </a:folHlink>
    </a:clrScheme>
    <a:fontScheme name="Standard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4C7013"/>
        </a:dk2>
        <a:lt2>
          <a:srgbClr val="0061B2"/>
        </a:lt2>
        <a:accent1>
          <a:srgbClr val="FEA501"/>
        </a:accent1>
        <a:accent2>
          <a:srgbClr val="C8A058"/>
        </a:accent2>
        <a:accent3>
          <a:srgbClr val="FFFFFF"/>
        </a:accent3>
        <a:accent4>
          <a:srgbClr val="000000"/>
        </a:accent4>
        <a:accent5>
          <a:srgbClr val="FECFAA"/>
        </a:accent5>
        <a:accent6>
          <a:srgbClr val="B5914F"/>
        </a:accent6>
        <a:hlink>
          <a:srgbClr val="C40505"/>
        </a:hlink>
        <a:folHlink>
          <a:srgbClr val="91919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5258</TotalTime>
  <Words>377</Words>
  <Application>Microsoft Office PowerPoint</Application>
  <PresentationFormat>화면 슬라이드 쇼(4:3)</PresentationFormat>
  <Paragraphs>50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HY견고딕</vt:lpstr>
      <vt:lpstr>굴림</vt:lpstr>
      <vt:lpstr>맑은 고딕</vt:lpstr>
      <vt:lpstr>Arial</vt:lpstr>
      <vt:lpstr>Verdana</vt:lpstr>
      <vt:lpstr>Wingdings</vt:lpstr>
      <vt:lpstr>Wingdings 2</vt:lpstr>
      <vt:lpstr>Standarddesign</vt:lpstr>
      <vt:lpstr>1. 액티비티와 인텐트 기본</vt:lpstr>
      <vt:lpstr>1. 액티비티와 인텐트 기본</vt:lpstr>
      <vt:lpstr>1. 액티비티와 인텐트 기본</vt:lpstr>
      <vt:lpstr>1. 액티비티와 인텐트 기본</vt:lpstr>
      <vt:lpstr>1. 액티비티와 인텐트 기본</vt:lpstr>
      <vt:lpstr>1. 액티비티와 인텐트 기본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sh</dc:creator>
  <cp:lastModifiedBy>백 건효</cp:lastModifiedBy>
  <cp:revision>453</cp:revision>
  <dcterms:created xsi:type="dcterms:W3CDTF">2007-11-27T23:54:21Z</dcterms:created>
  <dcterms:modified xsi:type="dcterms:W3CDTF">2020-03-30T09:35:29Z</dcterms:modified>
</cp:coreProperties>
</file>